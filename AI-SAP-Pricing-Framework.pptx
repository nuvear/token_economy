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26"/>
    <p:sldId id="270" r:id="rId16"/>
    <p:sldId id="271" r:id="rId17"/>
    <p:sldId id="272" r:id="rId18"/>
    <p:sldId id="276" r:id="rId27"/>
    <p:sldId id="273" r:id="rId19"/>
    <p:sldId id="277" r:id="rId28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5.xml"/><Relationship Id="rId27" Type="http://schemas.openxmlformats.org/officeDocument/2006/relationships/slide" Target="slides/slide19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43D"/>
                </a:solidFill>
                <a:latin typeface="Calibri"/>
              </a:rPr>
              <a:t>Typical AI-adopting service line (indexed, traditional = 100)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T&amp;M</c:v>
                </c:pt>
              </c:strCache>
            </c:strRef>
          </c:tx>
          <c:spPr>
            <a:solidFill>
              <a:srgbClr val="162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Gross profit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AI, same T&amp;M pricing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Revenue</c:v>
                  </c:pt>
                  <c:pt idx="1">
                    <c:v>Gross profit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46</c:v>
                </c:pt>
                <c:pt idx="1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C4C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43D"/>
                </a:solidFill>
                <a:latin typeface="Calibri"/>
              </a:rPr>
              <a:t>Cost of delivery, before vs after AI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Labor</c:v>
                </c:pt>
              </c:strCache>
            </c:strRef>
          </c:tx>
          <c:spPr>
            <a:solidFill>
              <a:srgbClr val="1624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781</c:v>
                </c:pt>
                <c:pt idx="1">
                  <c:v>363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tokens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Platform &amp; tooling</c:v>
                </c:pt>
              </c:strCache>
            </c:strRef>
          </c:tx>
          <c:spPr>
            <a:solidFill>
              <a:srgbClr val="7A9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Traditional</c:v>
                  </c:pt>
                  <c:pt idx="1">
                    <c:v>With AI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243D"/>
                </a:solidFill>
                <a:latin typeface="Calibri"/>
              </a:rPr>
              <a:t>Project economics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A9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1197</c:v>
                </c:pt>
                <c:pt idx="1">
                  <c:v>556</c:v>
                </c:pt>
                <c:pt idx="2">
                  <c:v>898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of delivery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781</c:v>
                </c:pt>
                <c:pt idx="1">
                  <c:v>392</c:v>
                </c:pt>
                <c:pt idx="2">
                  <c:v>392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Gross profit</c:v>
                </c:pt>
              </c:strCache>
            </c:strRef>
          </c:tx>
          <c:spPr>
            <a:solidFill>
              <a:srgbClr val="E8A3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C4C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Traditional
(no AI)</c:v>
                  </c:pt>
                  <c:pt idx="1">
                    <c:v>AI + T&amp;M
pass-through</c:v>
                  </c:pt>
                  <c:pt idx="2">
                    <c:v>AI + per-object
(25% discount)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416</c:v>
                </c:pt>
                <c:pt idx="1">
                  <c:v>164</c:v>
                </c:pt>
                <c:pt idx="2">
                  <c:v>505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3C4C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C4C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9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43D"/>
                </a:solidFill>
                <a:latin typeface="Calibri"/>
              </a:defRPr>
            </a:pPr>
            <a:r>
              <a:rPr sz="1250" b="0" i="0" u="none" strike="noStrike">
                <a:solidFill>
                  <a:srgbClr val="16243D"/>
                </a:solidFill>
                <a:latin typeface="Calibri"/>
              </a:rPr>
              <a:t>Where the $389K savings pool goes (25% discount)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Savings pool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A33D"/>
              </a:solidFill>
              <a:effectLst/>
            </c:spPr>
          </c:dPt>
          <c:dPt>
            <c:idx val="1"/>
            <c:bubble3D val="0"/>
            <c:spPr>
              <a:solidFill>
                <a:srgbClr val="16243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Customer discount ($299K)</c:v>
                </c:pt>
                <c:pt idx="1">
                  <c:v>Retained by partner ($90K)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299</c:v>
                </c:pt>
                <c:pt idx="1">
                  <c:v>90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C4C66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chart" Target="../charts/chart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chart" Target="..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480560"/>
            <a:ext cx="4023360" cy="402336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96012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0972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789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SAP OFFERINGS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the Shift from</a:t>
            </a:r>
            <a:endParaRPr lang="en-US" sz="48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to Outcomes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66928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pricing framework for any SAP service line adopting AI in delivery — protecting margin while passing real savings to customers.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50749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— five steps, generic variables, one formula set
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case example — custom code remediation, ECC → S/4HANA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" y="5989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pricing calculator · Partner leadership working session · INTERNAL &amp; CONFIDENTIAL — the customer edition is a separate extract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breaks effort-based pricing — the margin trap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SAP service lines, AI cuts delivery effort by 40–70%. If price stays chained to hours, every hour AI saves is revenue handed back — efficiency becomes self-inflicted shrinkage. This applies to any offering priced on effort.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7063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88950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426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rate card, fewer hours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295351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volume falls faster than cost — revenue typically drops 40–55% at constant rates.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7490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12394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387705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expect the discount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08760" y="418795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benchmarks AI productivity and pushes rates down anyway.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" y="498348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EF4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5239512"/>
            <a:ext cx="530352" cy="530352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35838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51114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cost lines appear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54223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tokens, platform licences and human review enter the cost of delivery.</a:t>
            </a:r>
            <a:endParaRPr lang="en-US" sz="11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492240" y="146304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492240" y="5715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falls ~60% — far worse than the margin % suggests. The fix is a pricing framework, not a better rate card.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services pricing to solution pricing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130759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96596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836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economics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9494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today's revenue, cost of delivery and margin for the service line.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8892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354787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89864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 of delivery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3522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Re-model cost with AI: effort reduction, token spend, platform and QA review.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7" name="Shape 13"/>
          <p:cNvSpPr/>
          <p:nvPr/>
        </p:nvSpPr>
        <p:spPr>
          <a:xfrm>
            <a:off x="578815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312" y="19659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13892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architecture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17550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Detach price from hours — unit, fixed-outcome or subscription pricing.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26948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23" name="Shape 18"/>
          <p:cNvSpPr/>
          <p:nvPr/>
        </p:nvSpPr>
        <p:spPr>
          <a:xfrm>
            <a:off x="8028432" y="1828800"/>
            <a:ext cx="603504" cy="60350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965960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7920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37920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sharing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1578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productivity dividend between customer discount and partner margin.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509760" y="1554480"/>
            <a:ext cx="2121408" cy="3200400"/>
          </a:xfrm>
          <a:prstGeom prst="roundRect">
            <a:avLst>
              <a:gd name="adj" fmla="val 3448"/>
            </a:avLst>
          </a:prstGeom>
          <a:solidFill>
            <a:srgbClr val="16243D"/>
          </a:solidFill>
          <a:ln/>
        </p:spPr>
      </p:sp>
      <p:sp>
        <p:nvSpPr>
          <p:cNvPr id="29" name="Shape 23"/>
          <p:cNvSpPr/>
          <p:nvPr/>
        </p:nvSpPr>
        <p:spPr>
          <a:xfrm>
            <a:off x="10268712" y="1828800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1965960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19488" y="2606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9619488" y="285292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plan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3456432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offers, sales comp and delivery model so profit never dips.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D9E6F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39496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00200" y="5285232"/>
            <a:ext cx="9784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principle:  </a:t>
            </a:r>
            <a:pPr indent="0" marL="0">
              <a:buNone/>
            </a:pPr>
            <a:r>
              <a:rPr lang="en-US" sz="14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against the customer's alternative cost (what the work is worth), deliver at the AI-enabled cost (what it now takes), and manage the spread deliberately.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BASELINE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the unit of work — then price and cost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SAP offering can be expressed as a countable unit of work. The baseline captures what the customer pays and what delivery costs today, per unit — this anchor is what every AI pricing decision is measured against.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 ACROSS SAP OFFERINGS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object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95728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9" name="Text 7"/>
          <p:cNvSpPr/>
          <p:nvPr/>
        </p:nvSpPr>
        <p:spPr>
          <a:xfrm>
            <a:off x="2395728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 automated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42816" y="292608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1" name="Text 9"/>
          <p:cNvSpPr/>
          <p:nvPr/>
        </p:nvSpPr>
        <p:spPr>
          <a:xfrm>
            <a:off x="4242816" y="292608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built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object migrated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95728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5" name="Text 13"/>
          <p:cNvSpPr/>
          <p:nvPr/>
        </p:nvSpPr>
        <p:spPr>
          <a:xfrm>
            <a:off x="2395728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AMS ticket resolved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42816" y="3429000"/>
            <a:ext cx="1755648" cy="402336"/>
          </a:xfrm>
          <a:prstGeom prst="roundRect">
            <a:avLst>
              <a:gd name="adj" fmla="val 50000"/>
            </a:avLst>
          </a:prstGeom>
          <a:solidFill>
            <a:srgbClr val="D9E6F7"/>
          </a:solidFill>
          <a:ln/>
        </p:spPr>
      </p:sp>
      <p:sp>
        <p:nvSpPr>
          <p:cNvPr id="17" name="Text 15"/>
          <p:cNvSpPr/>
          <p:nvPr/>
        </p:nvSpPr>
        <p:spPr>
          <a:xfrm>
            <a:off x="4242816" y="34290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converted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VARIABLES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480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4535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of work in scope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37560" y="4480560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448056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453542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unit (hours)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04748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0474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5102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bill rate ($/hr)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5047488"/>
            <a:ext cx="502920" cy="438912"/>
          </a:xfrm>
          <a:prstGeom prst="roundRect">
            <a:avLst>
              <a:gd name="adj" fmla="val 16667"/>
            </a:avLst>
          </a:prstGeom>
          <a:solidFill>
            <a:srgbClr val="16243D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504748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51023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delivery cost ($/hr)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55080" y="1463040"/>
            <a:ext cx="5285232" cy="4480560"/>
          </a:xfrm>
          <a:prstGeom prst="roundRect">
            <a:avLst>
              <a:gd name="adj" fmla="val 1633"/>
            </a:avLst>
          </a:prstGeom>
          <a:solidFill>
            <a:srgbClr val="16243D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FORMULAS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75120" y="20574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revenue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646920" y="2039112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35" name="Text 33"/>
          <p:cNvSpPr/>
          <p:nvPr/>
        </p:nvSpPr>
        <p:spPr>
          <a:xfrm>
            <a:off x="9646920" y="20391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Rb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299008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cost of delivery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46920" y="2971800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38" name="Text 36"/>
          <p:cNvSpPr/>
          <p:nvPr/>
        </p:nvSpPr>
        <p:spPr>
          <a:xfrm>
            <a:off x="9646920" y="29718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Rc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3922776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(the number to protect)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646920" y="3904488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41" name="Text 39"/>
          <p:cNvSpPr/>
          <p:nvPr/>
        </p:nvSpPr>
        <p:spPr>
          <a:xfrm>
            <a:off x="9646920" y="390448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 × h × (Rb − Rc)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485546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— internal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reference, not the market anchor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646920" y="4837176"/>
            <a:ext cx="1783080" cy="475488"/>
          </a:xfrm>
          <a:prstGeom prst="roundRect">
            <a:avLst>
              <a:gd name="adj" fmla="val 15385"/>
            </a:avLst>
          </a:prstGeom>
          <a:solidFill>
            <a:srgbClr val="24385C"/>
          </a:solidFill>
          <a:ln/>
        </p:spPr>
      </p:sp>
      <p:sp>
        <p:nvSpPr>
          <p:cNvPr id="44" name="Text 42"/>
          <p:cNvSpPr/>
          <p:nvPr/>
        </p:nvSpPr>
        <p:spPr>
          <a:xfrm>
            <a:off x="9646920" y="483717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× Rb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67512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baseline P&amp;L per offering + evidence-graded customer anchor.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5989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Discipline: if you can't count the unit, you can't reprice the offering — fix scoping first.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AI COST OF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Re-model cost — labor shrinks, new lines appear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AI coverage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4708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units AI can handle. Driven by pattern frequency and tooling maturity; measure it, don't assume it.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57860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004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Effort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96265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less human effort per covered unit. The complex tail stays manual.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9417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85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— QA add-back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407822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of AI output, as a share of hours saved. Non-negotiable until rework is proven low.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809744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9011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P — AI consumption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519379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per covered unit (t) and platform / tooling amortization per engagement (P).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330952" cy="2880360"/>
          </a:xfrm>
          <a:prstGeom prst="roundRect">
            <a:avLst>
              <a:gd name="adj" fmla="val 2540"/>
            </a:avLst>
          </a:prstGeom>
          <a:solidFill>
            <a:srgbClr val="16243D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AI-ADJUSTED COST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2112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U × h × (1 − c × e × (1 − q))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2606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26151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AI hours × Rc + U × c × t + P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29400" y="3154680"/>
            <a:ext cx="4663440" cy="0"/>
          </a:xfrm>
          <a:prstGeom prst="line">
            <a:avLst/>
          </a:prstGeom>
          <a:noFill/>
          <a:ln w="19050">
            <a:solidFill>
              <a:srgbClr val="2438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9400" y="329184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pool  S = Traditional cost − AI cost
</a:t>
            </a:r>
            <a:pPr indent="0" marL="0">
              <a:buNone/>
            </a:pPr>
            <a:r>
              <a:rPr lang="en-US" sz="12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pool funds everything: customer discounts, margin expansion, and platform reinvestment. Step 4 decides the split.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330952" cy="1371600"/>
          </a:xfrm>
          <a:prstGeom prst="roundRect">
            <a:avLst>
              <a:gd name="adj" fmla="val 5333"/>
            </a:avLst>
          </a:prstGeom>
          <a:solidFill>
            <a:srgbClr val="EE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7548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check:  </a:t>
            </a:r>
            <a:pPr indent="0" marL="0">
              <a:buNone/>
            </a:pPr>
            <a:r>
              <a:rPr lang="en-US" sz="12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is usually &lt;1–2% of cost. The economics are decided by labor mix and review discipline — instrument every project to capture actual c, e, q per unit.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98932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validated cost-per-unit at AI-enabled delivery, with measured (not assumed) parameters.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LLM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by task — never one model for everything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788920" y="1371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&amp; INDICATIVE LIST PRICE ($ PER 1M TOKENS, IN / OUT)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452360" y="13716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0136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2788920" y="180136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4.8 — $5 / $25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GPT-5.6 Sol — $5 / $30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52360" y="178308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refactors, architecture decisions, long-horizon agents. Reserve for the hard tail — use sparingly.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85292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Workhorse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(default tier)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2788920" y="285292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 — $3 / $15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 — $2 / $12  ·  GPT-5.6 Terra — $2.50 / $15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2360" y="283464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code transformation and remediation, test generation, documentation. The right default for most SAP delivery.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0448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788920" y="390448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— $1 / $5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— $1.50 / $9  ·  GPT-5.6 Luna — $1 / $6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452360" y="388620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and triage (e.g. ATC findings), simple syntax fixes, routing and extraction at volume.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1672" cy="932688"/>
          </a:xfrm>
          <a:prstGeom prst="roundRect">
            <a:avLst>
              <a:gd name="adj" fmla="val 7843"/>
            </a:avLst>
          </a:prstGeom>
          <a:solidFill>
            <a:srgbClr val="EEF4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95604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SAP-native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2788920" y="495604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Generative AI Hub (AI Foundation): frontier models plus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SAP-ABAP-1 &amp; SAP-RPT-1 — billed as AI Units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52360" y="4937760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ABAP-specific work, one SAP contract instead of many, SAP governance and data-sovereignty controls, Joule for Developers.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6243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6016752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note: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prices as of July 2026 — the major providers have repriced repeatedly within a year. Refresh quarterly, and route by task, not by loyalty.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THE LLM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economics — and what to watch out for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LLM PRICING WORKS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Per-token, in and 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7568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tokens cost 3–6× input; some providers add long-context surcharges above ~200K tokens.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— up to 90% 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context (code standards, rulebooks) bills at ~10% of list — design prompts to reuse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49624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— 50% 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23367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jobs at half price: ideal for overnight mass-remediation and test-generation runs.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928616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200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Units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531266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Generative AI Hub, token usage converts to AI Units under the BTP contract — one commercial channel, model-dependent rates.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OUT FOR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19" name="Text 17"/>
          <p:cNvSpPr/>
          <p:nvPr/>
        </p:nvSpPr>
        <p:spPr>
          <a:xfrm>
            <a:off x="6510528" y="175564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&amp; tokenizer volatility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200253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cards change several times a year; one tokenizer swap raised token counts up to ~35%. Never hard-code token cost into multi-year fixed prices.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56032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26243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token inflation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10528" y="287121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agents and retries can multiply tokens 5–10× a single pass — cap loop depth and set a token budget per unit of work.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09360" y="342900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D9E6F7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34930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ABAP is a niche language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73989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models hallucinate obsolete syntax and patterns — gate every output with ATC and unit tests; use ABAP-tuned models for the hard tail.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429768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28" name="Text 26"/>
          <p:cNvSpPr/>
          <p:nvPr/>
        </p:nvSpPr>
        <p:spPr>
          <a:xfrm>
            <a:off x="6510528" y="436168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IP &amp; residency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10528" y="460857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code leaves the landscape unless routed via the SAP hub or private endpoints — verify retention, training-use and indemnity clauses.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5166360"/>
            <a:ext cx="533095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52303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Deprecation &amp; lock-in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10528" y="5477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retire on short notice — abstract calls behind a gateway, keep prompts portable, and re-benchmark quality before switching.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rule: quote the customer a stable price per unit — absorb model-price volatility inside your platform cost line, not in the customer's invoice.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PRICE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models — move right as trust and IP mature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T&amp;M pass-through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AI-reduced hours at the old rate card.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collapse. Use only where contracts force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0712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93592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C77F1A"/>
          </a:solidFill>
          <a:ln/>
        </p:spPr>
      </p:sp>
      <p:sp>
        <p:nvSpPr>
          <p:cNvPr id="12" name="Text 10"/>
          <p:cNvSpPr/>
          <p:nvPr/>
        </p:nvSpPr>
        <p:spPr>
          <a:xfrm>
            <a:off x="3593592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93592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Premium-rate T&amp;M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593592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hours at an AI-premium rate (+10–20%).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93592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Softens the fall but keeps price chained to effort. A bridge, not a destination.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72784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D9E6F7"/>
          </a:solidFill>
          <a:ln/>
          <a:effectLst>
            <a:outerShdw sx="100000" sy="100000" kx="0" ky="0" algn="bl" rotWithShape="0" blurRad="101600" dist="25400" dir="5400000">
              <a:srgbClr val="9FB2CE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55664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4E8A5A"/>
          </a:solidFill>
          <a:ln/>
        </p:spPr>
      </p:sp>
      <p:sp>
        <p:nvSpPr>
          <p:cNvPr id="18" name="Text 16"/>
          <p:cNvSpPr/>
          <p:nvPr/>
        </p:nvSpPr>
        <p:spPr>
          <a:xfrm>
            <a:off x="6455664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55664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Per-unit / fixed outcome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55664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 of work, anchored to the customer's traditional cost minus a discount.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55664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price from hours. Partner keeps efficiency gains; customer pays less and gets speed.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34856" y="1508760"/>
            <a:ext cx="2697480" cy="4206240"/>
          </a:xfrm>
          <a:prstGeom prst="roundRect">
            <a:avLst>
              <a:gd name="adj" fmla="val 2712"/>
            </a:avLst>
          </a:prstGeom>
          <a:solidFill>
            <a:srgbClr val="EEF4FC"/>
          </a:solidFill>
          <a:ln/>
        </p:spPr>
      </p:sp>
      <p:sp>
        <p:nvSpPr>
          <p:cNvPr id="23" name="Shape 21"/>
          <p:cNvSpPr/>
          <p:nvPr/>
        </p:nvSpPr>
        <p:spPr>
          <a:xfrm>
            <a:off x="9317736" y="1737360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24" name="Text 22"/>
          <p:cNvSpPr/>
          <p:nvPr/>
        </p:nvSpPr>
        <p:spPr>
          <a:xfrm>
            <a:off x="9317736" y="173736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STATE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17736" y="21945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subscription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17736" y="2926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service under ARR — monitoring, upgrades, ongoing remediation.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317736" y="40233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and stickiness — the end-state of the services-to-solution shift.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never quote hours for AI-accelerated scope — quote units, milestones or outcomes, with hours as internal math only.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VALUE SHARING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the productivity dividend — deliberately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gain-share decision — how much of the savings pool S goes to the customer as a price discount (d) versus retained as margin — is the single most important pricing lever. Set it as policy, not deal-by-deal improvisation.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too little (d ≈ 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AI hype without benefit; competitors undercut you and the win rate collapses.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all away (d ≥ d*)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fund the AI transition and keep none of it — margin erodes below today's baseline.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dividend (0 &lt; d &lt; d*)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76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pays visibly less and gets speed; partner margin expands. Both sides win — this is the zone to operate in.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5102352" cy="2514600"/>
          </a:xfrm>
          <a:prstGeom prst="roundRect">
            <a:avLst>
              <a:gd name="adj" fmla="val 2909"/>
            </a:avLst>
          </a:prstGeom>
          <a:solidFill>
            <a:srgbClr val="16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PRICE &amp; BREAKEVEN FLOOR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96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Traditional price × (1 − 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discount d* (uncontested)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1 − (Trad. profit + AI cost)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÷ Traditional price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d*, the AI deal earns exactly the traditional profit — the uncontested floor. A verified rival bid routes to the deal-desk defense floor, never a bigger discount.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206240"/>
            <a:ext cx="5102352" cy="1737360"/>
          </a:xfrm>
          <a:prstGeom prst="roundRect">
            <a:avLst>
              <a:gd name="adj" fmla="val 4211"/>
            </a:avLst>
          </a:prstGeom>
          <a:solidFill>
            <a:srgbClr val="EEF4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70916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4407408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not improvisation:  publish an opening band (20–30%). The real floor is max(margin floor, profit floor, minimum fee) — deal-specific, enforced in the calculator, never disclosed. If willingness-to-pay sits below the floor: re-scope or no-bid.</a:t>
            </a:r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published gain-share band and breakeven floor per offering.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TRANSITION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waves — profit never dips below baseline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0–6 MONTHS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&amp; protect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AI on 2–3 live projects per offering; measure real coverage, effort reduction, tokens and rework.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contracted pricing; bank the margin uplift quietly.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internal cost model and calculator discipline.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70832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EEF4FC"/>
          </a:solidFill>
          <a:ln/>
        </p:spPr>
      </p:sp>
      <p:sp>
        <p:nvSpPr>
          <p:cNvPr id="11" name="Shape 8"/>
          <p:cNvSpPr/>
          <p:nvPr/>
        </p:nvSpPr>
        <p:spPr>
          <a:xfrm>
            <a:off x="4599432" y="1783080"/>
            <a:ext cx="548640" cy="548640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911096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85232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6–18 MONTHS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285232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Repackage &amp; reprice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45152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per-unit / fixed-outcome offers with published tiers.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gain-share policy and breakeven floors by deal size.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sales on value narratives; shift comp toward margin.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93024" y="1554480"/>
            <a:ext cx="3611880" cy="4206240"/>
          </a:xfrm>
          <a:prstGeom prst="roundRect">
            <a:avLst>
              <a:gd name="adj" fmla="val 2025"/>
            </a:avLst>
          </a:prstGeom>
          <a:solidFill>
            <a:srgbClr val="16243D"/>
          </a:solidFill>
          <a:ln/>
        </p:spPr>
      </p:sp>
      <p:sp>
        <p:nvSpPr>
          <p:cNvPr id="17" name="Shape 13"/>
          <p:cNvSpPr/>
          <p:nvPr/>
        </p:nvSpPr>
        <p:spPr>
          <a:xfrm>
            <a:off x="8421624" y="17830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110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07424" y="1847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· 18+ MONTHS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107424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Productize &amp; recur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67344" y="269748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accelerators into a licensable platform — only if the measured uplift delta (partner stack vs. vanilla control) earns it.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subscriptions from measured cost-to-serve and observed renewals, never heuristics.</a:t>
            </a:r>
            <a:endParaRPr lang="en-US" sz="11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solution revenue % only for contracts priced off that evidence base.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only after Wave 1 yields defensible c/e/q actuals — and finance certifies freed capacity is actually resold, not benched.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code remediation — ECC → S/4HANA baseline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work: one remediated custom object. A typical mid-size ECC estate, scoped with ATC / readiness checks.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85800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 in the ECC estate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1" name="Text 9"/>
          <p:cNvSpPr/>
          <p:nvPr/>
        </p:nvSpPr>
        <p:spPr>
          <a:xfrm>
            <a:off x="3502152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02152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in scope (U) · 30% need remediation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4" name="Text 12"/>
          <p:cNvSpPr/>
          <p:nvPr/>
        </p:nvSpPr>
        <p:spPr>
          <a:xfrm>
            <a:off x="6318504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 hrs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318504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per object (h) → 12,600 hrs total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965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34856" y="21214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$95 / $62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9134856" y="267004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rate (Rb) / loaded cost (Rc) per hour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1672" cy="237744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931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PROJECT P&amp;L  ·  U × h × Rb  |  U × h × Rc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$1,197K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12,600 hrs × $95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$781K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356616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delivery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6616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12,600 hrs × $62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$416K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26364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to protect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61120" y="4343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34.7%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961120" y="49377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961120" y="52303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services benchmark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anchor per unit: price per object $332  ·  cost per object $217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cost of delivery — illustrative case parameters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85% coverage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fixes, obsolete statements and simple adaptations are AI-remediable; complex logic stays manual.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76148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70% effort reduction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0540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for the case example — replace with your Wave-1 measured actuals before quoting.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785616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8770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10% QA add-back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4169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of AI output, as a share of hours saved.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901184"/>
            <a:ext cx="5394960" cy="969264"/>
          </a:xfrm>
          <a:prstGeom prst="roundRect">
            <a:avLst>
              <a:gd name="adj" fmla="val 7547"/>
            </a:avLst>
          </a:prstGeom>
          <a:solidFill>
            <a:srgbClr val="EEF4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99262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$1.50 · P = $25K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52852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Workhorse model: 200K in + 30K out tokens per object, plus 50% agentic retries, less cache/batch discounts ≈ $1.50 — plus platform &amp; tooling.</a:t>
            </a:r>
            <a:endParaRPr lang="en-US" sz="105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1554480"/>
          <a:ext cx="53035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6309360" y="576072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hours: 12,600 × (1 − .85 × .70 × .90) = 5,853. AI cost $392K pre-risk — rework &amp; warranty reserves load in the calculator. Cost/object $217 → $109. Pool S = $389K.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48640" y="60807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is &lt;1% of cost — labor mix and review discipline decide the economics.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3–4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project, three pricing choices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50876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8" name="Text 5"/>
          <p:cNvSpPr/>
          <p:nvPr/>
        </p:nvSpPr>
        <p:spPr>
          <a:xfrm>
            <a:off x="772668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26680" y="18745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34.7%  →  29.4%  →  56.3%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26680" y="21671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pricing turns AI into a margin engine.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543800" y="269748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16243D"/>
          </a:solidFill>
          <a:ln/>
        </p:spPr>
      </p:sp>
      <p:sp>
        <p:nvSpPr>
          <p:cNvPr id="12" name="Text 9"/>
          <p:cNvSpPr/>
          <p:nvPr/>
        </p:nvSpPr>
        <p:spPr>
          <a:xfrm>
            <a:off x="7726680" y="2788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delivery hour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26680" y="30632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$95  →  $95  →  $153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26680" y="33558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north-star metric for the transition.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543800" y="388620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16" name="Text 13"/>
          <p:cNvSpPr/>
          <p:nvPr/>
        </p:nvSpPr>
        <p:spPr>
          <a:xfrm>
            <a:off x="77266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price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2668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$1,197K  →  $556K  →  $898K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4544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25% vs. the validated alternative — recompute against live competing bids.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43800" y="5074920"/>
            <a:ext cx="4114800" cy="1060704"/>
          </a:xfrm>
          <a:prstGeom prst="roundRect">
            <a:avLst>
              <a:gd name="adj" fmla="val 6897"/>
            </a:avLst>
          </a:prstGeom>
          <a:solidFill>
            <a:srgbClr val="EEF4FC"/>
          </a:solidFill>
          <a:ln/>
        </p:spPr>
      </p:sp>
      <p:sp>
        <p:nvSpPr>
          <p:cNvPr id="20" name="Text 17"/>
          <p:cNvSpPr/>
          <p:nvPr/>
        </p:nvSpPr>
        <p:spPr>
          <a:xfrm>
            <a:off x="7726680" y="5166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object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726680" y="5440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$332  →  $154  →  $249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726680" y="57332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this — never the hours behind it.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194560" y="2926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APPLIED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the $389K savings pool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per-object pricing at a 25% discount, the customer saves $299K and finishes months earlier; partner gross profit rises from $416K to $505K — after a 3% platform-reinvestment carve-out is funded from revenue.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EF4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529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FORMULA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d* = 1 − (416 + 392) ÷ 1,197 = 32.5% — before risk. Rework, warranty and commercial reserves lower the real floor: the calculator's risk-adjusted maximum, deal-specific and confidential.</a:t>
            </a:r>
            <a:pPr indent="0" marL="0">
              <a:buNone/>
            </a:pPr>
            <a:r>
              <a:rPr lang="en-US" sz="13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4340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16243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727448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4498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GUARDRAIL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508760" y="47731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risk-adjusted floor the deal destroys value. The floor is enforced in the calculator per deal — never printed on a slide, never disclosed in negotiation.</a:t>
            </a:r>
            <a:pPr indent="0" marL="0">
              <a:buNone/>
            </a:pPr>
            <a:r>
              <a:rPr lang="en-US" sz="12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583680" y="1554480"/>
          <a:ext cx="49377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 11"/>
          <p:cNvSpPr/>
          <p:nvPr/>
        </p:nvSpPr>
        <p:spPr>
          <a:xfrm>
            <a:off x="658368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giving customers ~3/4 of the savings, the partner earns more per project — and wins deals competitors can't price.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EXAMPLE · COMPETITIVE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margin window — defend it, don't assume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56.3% margin exists because the anchor is today's benchmarked alternative. AI-native entrants and AI-equipped offshore rivals pull that anchor toward the ~$109/object AI cost line. Treat the spread as a time-bound window with a defense plan — not a birthright.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incumbent +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undercut the blended price with cheap T&amp;M and their own AI. Counter: fixed price, funded warranty, months-earlier completion monetized via the customer's cost of delay.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entrant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legacy gross profit to protect — prices at cost-plus. Counter: calibrated evidence, senior review and risk transfer; verified bids route to the defense floor, not panic discounts.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decay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76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competitive cycle drags the anchor down. Re-validate it quarterly from Deal_Log win/loss prices and reprice tiers from actuals — before procurement does it for you.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5102352" cy="2514600"/>
          </a:xfrm>
          <a:prstGeom prst="roundRect">
            <a:avLst>
              <a:gd name="adj" fmla="val 2909"/>
            </a:avLst>
          </a:prstGeom>
          <a:solidFill>
            <a:srgbClr val="16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RIVAL BID IS ON THE TABLE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floor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96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risk-adjusted cost ÷ (1 − defense margin)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ceiling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verified bid × (1 + switching premium)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willingness-to-pay falls below the defense floor: re-scope, restructure the service level, or no-bid — never discount through the floor.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206240"/>
            <a:ext cx="5102352" cy="1737360"/>
          </a:xfrm>
          <a:prstGeom prst="roundRect">
            <a:avLst>
              <a:gd name="adj" fmla="val 4211"/>
            </a:avLst>
          </a:prstGeom>
          <a:solidFill>
            <a:srgbClr val="EEF4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70916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4407408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slows convergence:  per-class evidence competitors can't safely match, a warranty priced into the floor, switching costs, and Wave-3 subscription conversion. What doesn't: hiding behind yesterday's rate card.</a:t>
            </a:r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quarterly anchor re-validation and a battlecard per competitor archetype.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OPERATING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moves that turn the framework into an operating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Own 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deal desk (sales + delivery + finance) that owns gain-share bands and floors. Rule: no AI-scoped quote without a calculator run attached.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0832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Measure it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99432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the next 2–3 projects with the per-unit log, including a vanilla-control sample. ~500 units at the current model/prompt config gives defensible per-class c, e, q — a config change restarts the count.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93024" y="1463040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8394192" y="1664208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17830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61704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Split the tool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21624" y="2304288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of one model: internal deal simulator, customer-facing value view (price &amp; savings only — never your cost stack), and a portfolio roll-up for the board.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7880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Package it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77240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offer, fixed scope, published tiers, SLA — and a rework warranty: any AI-remediated unit that fails ATC or regression is fixed at no charge.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0832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17880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9512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Pay for it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599432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20–30% of sales variable comp to margin and per-unit deals. Arm reps with a one-page battlecard; deal desk sits in on the first three value-priced deals.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93024" y="3858768"/>
            <a:ext cx="3611880" cy="2212848"/>
          </a:xfrm>
          <a:prstGeom prst="roundRect">
            <a:avLst>
              <a:gd name="adj" fmla="val 3306"/>
            </a:avLst>
          </a:prstGeom>
          <a:solidFill>
            <a:srgbClr val="EEF4FC"/>
          </a:solidFill>
          <a:ln/>
        </p:spPr>
      </p:sp>
      <p:sp>
        <p:nvSpPr>
          <p:cNvPr id="30" name="Shape 23"/>
          <p:cNvSpPr/>
          <p:nvPr/>
        </p:nvSpPr>
        <p:spPr>
          <a:xfrm>
            <a:off x="8394192" y="4059936"/>
            <a:ext cx="512064" cy="512064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417880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61704" y="41330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· Review it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421624" y="4700016"/>
            <a:ext cx="32004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Quarterly: re-verify LLM prices, re-baseline c/e/q from actuals, re-validate competitor anchors from win/loss — and re-baseline after any model or prompt change. If revenue-per-hour stalls, someone is quoting hours again.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deck sets policy; the calculator enforces it at deal level; the data log keeps both honest.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quote workflow — no simulation, no quote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SCOPE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76656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ATC + usage scan, joint classing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76656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live code only — Remediate / Rewrite / Decommission by usage evidence; the customer countersigns the class list.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98064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SIMULATE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0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pricing calculator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26080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c, e, q per class and current token rates — never assumptions.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01184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47488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CHECK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75504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price vs. band &amp; floor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175504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 to the band and risk-adjusted floor; anchor evidence attached and dated; data/IP route passes the customer's classification.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50608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96912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7424928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APPROVE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24928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outcome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24928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band: sales signs. Above band: deal desk. Below floor: blocked or no-bid. Verified rival bid: defense-floor sign-off.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00032" y="26060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46336" y="1508760"/>
            <a:ext cx="2121408" cy="2880360"/>
          </a:xfrm>
          <a:prstGeom prst="roundRect">
            <a:avLst>
              <a:gd name="adj" fmla="val 3448"/>
            </a:avLst>
          </a:prstGeom>
          <a:solidFill>
            <a:srgbClr val="EEF4FC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LOG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74352" y="1993392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674352" y="2724912"/>
            <a:ext cx="1874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parameters saved; delivery actuals feed the data spine for the next re-baseline.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6766560" cy="1600200"/>
          </a:xfrm>
          <a:prstGeom prst="roundRect">
            <a:avLst>
              <a:gd name="adj" fmla="val 4571"/>
            </a:avLst>
          </a:prstGeom>
          <a:solidFill>
            <a:srgbClr val="D9E6F7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DESK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5166360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 · delivery head · finance. </a:t>
            </a:r>
            <a:pPr indent="0" marL="0">
              <a:buNone/>
            </a:pPr>
            <a:r>
              <a:rPr lang="en-US" sz="12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bands and floors per offering, approves exceptions within 24h, reviews every blocked deal. Small enough to be fast, senior enough to be final.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543800" y="4709160"/>
            <a:ext cx="4096512" cy="1600200"/>
          </a:xfrm>
          <a:prstGeom prst="roundRect">
            <a:avLst>
              <a:gd name="adj" fmla="val 4571"/>
            </a:avLst>
          </a:prstGeom>
          <a:solidFill>
            <a:srgbClr val="16243D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212080"/>
            <a:ext cx="457200" cy="45720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8366760" y="49834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rule that makes it real: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calculator run attached, no quote leaves the building.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DATA SPINE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per unit — then publish tier prices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THESE FIELDS PER UNIT (WAVE 1: A SHARED SHEET IS ENOUGH)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ID · type · initial/final class · disposition · toolchain (partner vs. control) · config version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split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990088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minutes · human minutes · senior review minutes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30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3922776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attempted / handled · first-pass · rework minutes &amp; cause · warranty incident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489704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E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5628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consumption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4855464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in / out (K) · model used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53212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D9E6F7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650992"/>
            <a:ext cx="5166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units at the current config, from ≥2 projects and ≥2 customers — plus a vanilla-control sample that proves the toolchain uplift, the evidence behind any platform-IP claim.</a:t>
            </a:r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92240" y="1371600"/>
            <a:ext cx="5148072" cy="3977640"/>
          </a:xfrm>
          <a:prstGeom prst="roundRect">
            <a:avLst>
              <a:gd name="adj" fmla="val 1839"/>
            </a:avLst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572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TIER PRICES — ILLUSTRATIVE CASE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03720" y="19659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7840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0469880" y="19659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/ object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2478024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2532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— syntax, obsolete statements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84080" y="253288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469880" y="25328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3044952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309981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adaptations, DB access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84080" y="309981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469880" y="30998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766560" y="3611880"/>
            <a:ext cx="4617720" cy="493776"/>
          </a:xfrm>
          <a:prstGeom prst="roundRect">
            <a:avLst>
              <a:gd name="adj" fmla="val 11111"/>
            </a:avLst>
          </a:prstGeom>
          <a:solidFill>
            <a:srgbClr val="24385C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366674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— logic rework, redesign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84080" y="3666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469880" y="36667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$520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423367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(matches the 25%-discount case)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84080" y="423367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469880" y="423367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12280" y="4800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prices hold for full-estate, committed-mix scope (±10% tolerance, symmetric reclassification — including credits). Cherry-picked single classes use the standalone rate card.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5532120"/>
            <a:ext cx="5148072" cy="777240"/>
          </a:xfrm>
          <a:prstGeom prst="roundRect">
            <a:avLst>
              <a:gd name="adj" fmla="val 9412"/>
            </a:avLst>
          </a:prstGeom>
          <a:solidFill>
            <a:srgbClr val="EEF4FC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5632704"/>
            <a:ext cx="4709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 as proof: defects fixed free for 90 days from customer acceptance, with agreed cycles and caps — the reserve is funded inside the tier price. Contractual, not a side letter.</a:t>
            </a:r>
            <a:pPr indent="0" marL="0">
              <a:buNone/>
            </a:pPr>
            <a:r>
              <a:rPr lang="en-US" sz="10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· COMMERCIAL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improvement, guaranteed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per-unit evidence that protects our floor also works for the customer. Multi-year and committed-volume deals carry two-sided terms — the sanctioned answer to “your cost re-baselines down every quarter; my price never does.”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 review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90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prices are re-reviewed annually from the same measured c, e, q the customer can audit — floored at the required-revenue minimum, so the review is real but never below policy.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EEF4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40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MFC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133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benchmark clause with a correction window, and most-favored-customer scoped narrowly: comparable unit type, class mix within tolerance, same volume band.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5623560" cy="1005840"/>
          </a:xfrm>
          <a:prstGeom prst="roundRect">
            <a:avLst>
              <a:gd name="adj" fmla="val 7273"/>
            </a:avLst>
          </a:prstGeom>
          <a:solidFill>
            <a:srgbClr val="D9E6F7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983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True-up credit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27608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measured savings exceed the quoted savings pool, the customer's gain-share percentage applies to the surplus as a credit — capped so revenue never falls below the floor.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37960" y="1463040"/>
            <a:ext cx="5102352" cy="2514600"/>
          </a:xfrm>
          <a:prstGeom prst="roundRect">
            <a:avLst>
              <a:gd name="adj" fmla="val 2909"/>
            </a:avLst>
          </a:prstGeom>
          <a:solidFill>
            <a:srgbClr val="16243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THAT MAKE IT BINDING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1031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True-up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4964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customer share × max(0, S actual − S quoted)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&amp; volume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49640" y="25603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±10% symmetric mix tolerance · volume-band tier prices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858000" y="3337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engagement fee covers discovery, setup and platform fixed costs — small scopes are priced honestly instead of subsidized.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4206240"/>
            <a:ext cx="5102352" cy="1737360"/>
          </a:xfrm>
          <a:prstGeom prst="roundRect">
            <a:avLst>
              <a:gd name="adj" fmla="val 4211"/>
            </a:avLst>
          </a:prstGeom>
          <a:solidFill>
            <a:srgbClr val="EEF4FC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4709160"/>
            <a:ext cx="457200" cy="457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406640" y="4407408"/>
            <a:ext cx="4069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rights:  the customer receives its per-engagement delivery extract at closeout — the audit trail behind the warranty and the gain-share claim. We retain anonymized, de-identified aggregates only.</a:t>
            </a:r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0807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commercial-terms schedule attached to every multi-year or committed-volume quote.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leader must change for this to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 platform as product IP only if the measured uplift delta (partner stack vs. vanilla control) earns it — otherwise it's operational excellence. Track revenue-per-delivery-hour and the funded reinvestment carve-out.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653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Account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outcomes, speed and risk transfer — never hours. Re-anchor comp on margin and ARR. Know the floor; never disclose it — negotiate on the customer's validated alternative, quote tier prices only.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Head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pyramid: fewer junior executors, more senior reviewers and AI-workflow engineers. Own token budgets and QA gates so AI rework never eats the margin.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5137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 &amp; Consultants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in units and complexity classes, not person-days. Log actuals (AI vs. human effort, tokens, rework) — clean data is what keeps unit prices honest.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the P&amp;L moves from selling people's time to selling productized capability.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VERDICT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attacks this package must survive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6537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Investor: “where's the moat?”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measurement: the vanilla-control delta in the data log is the licensable-IP evidence, and the calibrated evidence base underwrites warranties rivals can't price. If the delta stays small after ~150 control units, reposition Wave 3 as operational excellence.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37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8653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01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Customer: “your margin doubled — why 25%?”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risk transfer and two-sided terms: fixed price, funded warranty, telemetry extract, annual price review and true-up. The split is policy published as tier prices — not a number to negotiate.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5137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Competitor: “their floor is our ceiling.”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with confidentiality and the defense floor: d* never leaves the deal desk; tier prices hold only for committed-mix, full-estate scope; verified bids route to defense-margin sign-off — not bigger discounts.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440680" cy="2084832"/>
          </a:xfrm>
          <a:prstGeom prst="roundRect">
            <a:avLst>
              <a:gd name="adj" fmla="val 3509"/>
            </a:avLst>
          </a:prstGeom>
          <a:solidFill>
            <a:srgbClr val="EEF4FC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566928" cy="566928"/>
          </a:xfrm>
          <a:prstGeom prst="ellipse">
            <a:avLst/>
          </a:prstGeom>
          <a:solidFill>
            <a:srgbClr val="1624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415137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087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standing rule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9224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C4C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objection is answered by an artifact, not a claim: the workbook measures, the calculator enforces, the deck governs. If the evidence isn't there yet, the honest answer is Wave 1 — not a hypothetical number.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77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Red-teamed from investor, customer and competitor perspectives; the surviving findings are implemented across all three artifacts.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120640" cy="5120640"/>
          </a:xfrm>
          <a:prstGeom prst="ellipse">
            <a:avLst/>
          </a:prstGeom>
          <a:solidFill>
            <a:srgbClr val="2438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NEXT STEP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the spread. Guard the floor.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2585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30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4688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price below the risk-adjusted floor — enforced in the calculator per deal, confidential. Uncontested: protect baseline profit. Contested: defense margin via deal desk.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22585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13055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North-star metric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178040" y="246888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 per total delivery hour — including review and all correction time — must rise every quarter. If it stalls, price and effort have re-coupled.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404164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913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463040" y="42519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review on 100% of AI output until rework &lt;2%. Rework and warranty reserves are booked to project cost of delivery — the platform line funds forward asset build only.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263640" y="374904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24385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04164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391363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calculator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78040" y="42519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deal is simulated before quote — pick the offering preset, load real units, coverage, tokens and gain-share.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548640" y="57607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calculator on your next deal, start the per-unit data log on a live project this month, and put the battlecard in front of sales — then reprice from actuals in 90 days.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2026-07-20T06:30:06Z</dcterms:created>
  <dcterms:modified xsi:type="dcterms:W3CDTF">2026-07-20T06:30:06Z</dcterms:modified>
</cp:coreProperties>
</file>