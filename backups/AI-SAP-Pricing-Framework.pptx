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243D"/>
                </a:solidFill>
                <a:latin typeface="Calibri"/>
              </a:rPr>
              <a:t>Typical AI-adopting service line (indexed, traditional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T&amp;M</c:v>
                </c:pt>
              </c:strCache>
            </c:strRef>
          </c:tx>
          <c:spPr>
            <a:solidFill>
              <a:srgbClr val="162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</c:v>
                  </c:pt>
                  <c:pt idx="1">
                    <c:v>Gross profit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AI, same T&amp;M pricing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</c:v>
                  </c:pt>
                  <c:pt idx="1">
                    <c:v>Gross profit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</c:v>
                </c:pt>
                <c:pt idx="1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C4C6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C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43D"/>
                </a:solidFill>
                <a:latin typeface="Calibri"/>
              </a:rPr>
              <a:t>Cost of delivery, before vs after AI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Labor</c:v>
                </c:pt>
              </c:strCache>
            </c:strRef>
          </c:tx>
          <c:spPr>
            <a:solidFill>
              <a:srgbClr val="162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AI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781</c:v>
                </c:pt>
                <c:pt idx="1">
                  <c:v>363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tokens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AI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Platform &amp; tooling</c:v>
                </c:pt>
              </c:strCache>
            </c:strRef>
          </c:tx>
          <c:spPr>
            <a:solidFill>
              <a:srgbClr val="7A9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AI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C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43D"/>
                </a:solidFill>
                <a:latin typeface="Calibri"/>
              </a:rPr>
              <a:t>Project economics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A9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Traditional
(no AI)</c:v>
                  </c:pt>
                  <c:pt idx="1">
                    <c:v>AI + T&amp;M
pass-through</c:v>
                  </c:pt>
                  <c:pt idx="2">
                    <c:v>AI + per-object
(25% discount)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1197</c:v>
                </c:pt>
                <c:pt idx="1">
                  <c:v>556</c:v>
                </c:pt>
                <c:pt idx="2">
                  <c:v>898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of delivery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Traditional
(no AI)</c:v>
                  </c:pt>
                  <c:pt idx="1">
                    <c:v>AI + T&amp;M
pass-through</c:v>
                  </c:pt>
                  <c:pt idx="2">
                    <c:v>AI + per-object
(25% discount)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781</c:v>
                </c:pt>
                <c:pt idx="1">
                  <c:v>392</c:v>
                </c:pt>
                <c:pt idx="2">
                  <c:v>392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Traditional
(no AI)</c:v>
                  </c:pt>
                  <c:pt idx="1">
                    <c:v>AI + T&amp;M
pass-through</c:v>
                  </c:pt>
                  <c:pt idx="2">
                    <c:v>AI + per-object
(25% discount)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416</c:v>
                </c:pt>
                <c:pt idx="1">
                  <c:v>164</c:v>
                </c:pt>
                <c:pt idx="2">
                  <c:v>505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C4C6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C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243D"/>
                </a:solidFill>
                <a:latin typeface="Calibri"/>
              </a:rPr>
              <a:t>Where the $389K savings pool goes (25% discount)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 pool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16243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Customer discount ($299K)</c:v>
                </c:pt>
                <c:pt idx="1">
                  <c:v>Retained by partner ($90K)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299</c:v>
                </c:pt>
                <c:pt idx="1">
                  <c:v>90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852160" cy="5852160"/>
          </a:xfrm>
          <a:prstGeom prst="ellipse">
            <a:avLst/>
          </a:prstGeom>
          <a:solidFill>
            <a:srgbClr val="2438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4023360" cy="4023360"/>
          </a:xfrm>
          <a:prstGeom prst="ellipse">
            <a:avLst/>
          </a:prstGeom>
          <a:solidFill>
            <a:srgbClr val="24385C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96012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0972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789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SAP OFFERINGS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the Shift from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to Outcomes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66928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pricing framework for any SAP service line adopting AI in delivery — protecting margin while passing real savings to customers.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50749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— five steps, generic variables, one formula set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case example — custom code remediation, ECC → S/4HANA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5989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interactive pricing calculator  ·  Partner leadership working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breaks effort-based pricing — the margin trap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SAP service lines, AI cuts delivery effort by 40–70%. If price stays chained to hours, every hour AI saves is revenue handed back — efficiency becomes self-inflicted shrinkage. This applies to any offering priced on effort.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4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70632"/>
            <a:ext cx="530352" cy="530352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88950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426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 card, fewer hours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9535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volume falls faster than cost — revenue typically drops 40–55% at constant rates.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4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1239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877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expect the discount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4187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benchmarks AI productivity and pushes rates down anyway.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9834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4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5239512"/>
            <a:ext cx="530352" cy="530352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35838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1114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cost lines appear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54223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tokens, platform licences and human review enter the cost of delivery.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92240" y="146304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6492240" y="5715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falls ~60% — far worse than the margin % suggests. The fix is a pricing framework, not a better rate card.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services pricing to solution pricing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economics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today's revenue, cost of delivery and margin for the service line.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8892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1" name="Shape 8"/>
          <p:cNvSpPr/>
          <p:nvPr/>
        </p:nvSpPr>
        <p:spPr>
          <a:xfrm>
            <a:off x="354787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9659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864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89864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of delivery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3522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Re-model cost with AI: effort reduction, token spend, platform and QA review.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7" name="Shape 13"/>
          <p:cNvSpPr/>
          <p:nvPr/>
        </p:nvSpPr>
        <p:spPr>
          <a:xfrm>
            <a:off x="578815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96596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13892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architecture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17550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price from hours — unit, fixed-outcome or subscription pricing.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26948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23" name="Shape 18"/>
          <p:cNvSpPr/>
          <p:nvPr/>
        </p:nvSpPr>
        <p:spPr>
          <a:xfrm>
            <a:off x="802843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9659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920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7920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sharing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1578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productivity dividend between customer discount and partner margin.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50976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16243D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68712" y="1828800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19659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1948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961948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plan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65606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offers, sales comp and delivery model so profit never dips.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D9E6F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39496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600200" y="528523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principle:  </a:t>
            </a:r>
            <a:pPr indent="0" marL="0">
              <a:buNone/>
            </a:pPr>
            <a:r>
              <a:rPr lang="en-US" sz="14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against the customer's alternative cost (what the work is worth), deliver at the AI-enabled cost (what it now takes), and manage the spread deliberately.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BASELINE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unit of work — then price and cost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SAP offering can be expressed as a countable unit of work. The baseline captures what the customer pays and what delivery costs today, per unit — this anchor is what every AI pricing decision is measured against.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WORK ACROSS SAP OFFERINGS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2608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object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292608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9" name="Text 7"/>
          <p:cNvSpPr/>
          <p:nvPr/>
        </p:nvSpPr>
        <p:spPr>
          <a:xfrm>
            <a:off x="2395728" y="292608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automated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42816" y="292608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1" name="Text 9"/>
          <p:cNvSpPr/>
          <p:nvPr/>
        </p:nvSpPr>
        <p:spPr>
          <a:xfrm>
            <a:off x="4242816" y="292608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built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object migrated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342900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5" name="Text 13"/>
          <p:cNvSpPr/>
          <p:nvPr/>
        </p:nvSpPr>
        <p:spPr>
          <a:xfrm>
            <a:off x="2395728" y="34290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ticket resolved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42816" y="342900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7" name="Text 15"/>
          <p:cNvSpPr/>
          <p:nvPr/>
        </p:nvSpPr>
        <p:spPr>
          <a:xfrm>
            <a:off x="4242816" y="34290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converted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VARIABLES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05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4535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work in scope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448056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44805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4535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unit (hours)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474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51023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bill rate ($/hr)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504748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50474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51023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delivery cost ($/hr)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463040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16243D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FORMULAS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057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revenue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46920" y="2039112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35" name="Text 33"/>
          <p:cNvSpPr/>
          <p:nvPr/>
        </p:nvSpPr>
        <p:spPr>
          <a:xfrm>
            <a:off x="9646920" y="2039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× h × Rb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75120" y="299008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cost of delivery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46920" y="2971800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38" name="Text 36"/>
          <p:cNvSpPr/>
          <p:nvPr/>
        </p:nvSpPr>
        <p:spPr>
          <a:xfrm>
            <a:off x="9646920" y="29718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× h × Rc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3922776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(the number to protect)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46920" y="3904488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41" name="Text 39"/>
          <p:cNvSpPr/>
          <p:nvPr/>
        </p:nvSpPr>
        <p:spPr>
          <a:xfrm>
            <a:off x="9646920" y="39044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× h × (Rb − Rc)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485546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— the customer's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cost, your value anchor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46920" y="4837176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44" name="Text 42"/>
          <p:cNvSpPr/>
          <p:nvPr/>
        </p:nvSpPr>
        <p:spPr>
          <a:xfrm>
            <a:off x="9646920" y="48371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× Rb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7512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one-page baseline P&amp;L per offering, at unit level.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5989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Discipline: if you can't count the unit, you can't reprice the offering — fix scoping first.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AI COST OF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Re-model cost — labor shrinks, new lines appear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AI coverage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units AI can handle. Driven by pattern frequency and tooling maturity; measure it, don't assume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70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Effort reduction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less human effort per covered unit. The complex tail stays manual.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85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— QA add-back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7822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of AI output, as a share of hours saved. Non-negotiable until rework is proven low.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809744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9011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P — AI consumption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193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per covered unit (t) and platform / tooling amortization per engagement (P).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30952" cy="2880360"/>
          </a:xfrm>
          <a:prstGeom prst="roundRect">
            <a:avLst>
              <a:gd name="adj" fmla="val 2540"/>
            </a:avLst>
          </a:prstGeom>
          <a:solidFill>
            <a:srgbClr val="162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AI-ADJUSTED COST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2112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U × h × (1 − c × e × (1 − q))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AI hours × Rc + U × c × t + 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3154680"/>
            <a:ext cx="4663440" cy="0"/>
          </a:xfrm>
          <a:prstGeom prst="line">
            <a:avLst/>
          </a:prstGeom>
          <a:noFill/>
          <a:ln w="19050">
            <a:solidFill>
              <a:srgbClr val="243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291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pool  S = Traditional cost − AI cost
</a:t>
            </a:r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pool funds everything: customer discounts, margin expansion, and platform reinvestment. Step 4 decides the split.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57200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EEF4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buNone/>
            </a:pPr>
            <a:r>
              <a:rPr lang="en-US" sz="12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is usually &lt;1–2% of cost. The economics are decided by labor mix and review discipline — instrument every project to capture actual c, e, q per unit.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validated cost-per-unit at AI-enabled delivery, with measured (not assumed) parameters.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LLM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by task — never one model for everything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8892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INDICATIVE LIST PRICE ($ PER 1M TOKENS, IN / OUT)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52360" y="13716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88920" y="18013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4.8 — $5 / $25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Sol — $5 / $30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52360" y="178308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refactors, architecture decisions, long-horizon agents. Reserve for the hard tail — use sparingly.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D9E6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529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Workhorse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(default tier)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788920" y="285292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— $3 / $15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— $2 / $12  ·  GPT-5.6 Terra — $2.50 / $15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52360" y="283464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code transformation and remediation, test generation, documentation. The right default for most SAP delivery.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EE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044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788920" y="390448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— $1 / $5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— $1.50 / $9  ·  GPT-5.6 Luna — $1 / $6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52360" y="388620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triage (e.g. ATC findings), simple syntax fixes, routing and extraction at volume.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EEF4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9560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SAP-native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788920" y="495604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Generative AI Hub (AI Foundation): frontier models plus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SAP-ABAP-1 &amp; SAP-RPT-1 — billed as AI Units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52360" y="493776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ABAP-specific work, one SAP contract instead of many, SAP governance and data-sovereignty controls, Joule for Developers.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43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0167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note: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as of July 2026 — the major providers have repriced repeatedly within a year. Refresh quarterly, and route by task, not by loyalty.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LLM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economics — and what to watch out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 PRICING WORKS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Per-token, in and 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cost 3–6× input; some providers add long-context surcharges above ~200K tokens.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62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— up to 90% 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context (code standards, rulebooks) bills at ~10% of list — design prompts to reuse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41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50% off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23367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jobs at half price: ideal for overnight mass-remediation and test-generation runs.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200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Units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1266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Generative AI Hub, token usage converts to AI Units under the BTP contract — one commercial channel, model-dependent rates.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tokenizer volatility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20025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cards change several times a year; one tokenizer swap raised token counts up to ~35%. Never hard-code token cost into multi-year fixed prices.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56032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2624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token inflation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0528" y="28712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agents and retries can multiply tokens 5–10× a single pass — cap loop depth and set a token budget per unit of work.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42900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D9E6F7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34930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is a niche language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7398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models hallucinate obsolete syntax and patterns — gate every output with ATC and unit tests; use ABAP-tuned models for the hard tail.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429768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28" name="Text 26"/>
          <p:cNvSpPr/>
          <p:nvPr/>
        </p:nvSpPr>
        <p:spPr>
          <a:xfrm>
            <a:off x="6510528" y="43616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IP &amp; residency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10528" y="460857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code leaves the landscape unless routed via the SAP hub or private endpoints — verify retention, training-use and indemnity clauses.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516636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5230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 &amp; lock-in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10528" y="5477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retire on short notice — abstract calls behind a gateway, keep prompts portable, and re-benchmark quality before switching.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rule: quote the customer a stable price per unit — absorb model-price volatility inside your platform cost line, not in the customer's invoice.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PRICE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— move right as trust and IP mature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T&amp;M pass-through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AI-reduced hours at the old rate card.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collapse. Use only where contracts force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EE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77F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9359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Premium-rate T&amp;M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93592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hours at an AI-premium rate (+10–20%).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93592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Softens the fall but keeps price chained to effort. A bridge, not a destination.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D9E6F7"/>
          </a:solidFill>
          <a:ln/>
          <a:effectLst>
            <a:outerShdw sx="100000" sy="100000" kx="0" ky="0" algn="bl" rotWithShape="0" blurRad="101600" dist="25400" dir="5400000">
              <a:srgbClr val="9FB2CE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4E8A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55664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Per-unit / fixed outcome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55664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of work, anchored to the customer's traditional cost minus a discount.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55664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price from hours. Partner keeps efficiency gains; customer pays less and gets speed.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34856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EEF4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317736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24" name="Text 22"/>
          <p:cNvSpPr/>
          <p:nvPr/>
        </p:nvSpPr>
        <p:spPr>
          <a:xfrm>
            <a:off x="9317736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17736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subscription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317736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service under ARR — monitoring, upgrades, ongoing remediation.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17736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and stickiness — the end-state of the services-to-solution shift.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never quote hours for AI-accelerated scope — quote units, milestones or outcomes, with hours as internal math only.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VALUE SHARING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productivity dividend — deliberately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gain-share decision — how much of the savings pool S goes to the customer as a price discount (d) versus retained as margin — is the single most important pricing lever. Set it as policy, not deal-by-deal improvisation.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too little (d ≈ 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90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AI hype without benefit; competitors undercut you and the win rate collapses.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40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all away (d ≥ d*)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33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fund the AI transition and keep none of it — margin erodes below today's baseline.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D9E6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83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dividend (0 &lt; d &lt; d*)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76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visibly less and gets speed; partner margin expands. Both sides win — this is the zone to operate 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463040"/>
            <a:ext cx="5102352" cy="2514600"/>
          </a:xfrm>
          <a:prstGeom prst="roundRect">
            <a:avLst>
              <a:gd name="adj" fmla="val 2909"/>
            </a:avLst>
          </a:prstGeom>
          <a:solidFill>
            <a:srgbClr val="162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PRICE &amp; BREAKEVEN FLOOR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496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Traditional price × (1 − d)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discount d*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1 − (Trad. profit + AI cost)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÷ Traditional price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d*, the AI deal earns exactly what the traditional project did. Beyond it, AI adoption destroys value.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4206240"/>
            <a:ext cx="5102352" cy="1737360"/>
          </a:xfrm>
          <a:prstGeom prst="roundRect">
            <a:avLst>
              <a:gd name="adj" fmla="val 4211"/>
            </a:avLst>
          </a:prstGeom>
          <a:solidFill>
            <a:srgbClr val="EEF4F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470916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06640" y="4407408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not improvisation:  </a:t>
            </a:r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 opening gain-share (e.g. 20–30% of price) and a hard floor at d* per deal size. Sales negotiates within the band; the calculator enforces it.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080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published gain-share band and breakeven floor per offering.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TRANSITION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waves — profit never dips below baseline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· 0–6 MONTHS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&amp; protect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on 2–3 live projects per offering; measure real coverage, effort reduction, tokens and rework.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contracted pricing; bank the margin uplift quietly.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internal cost model and calculator discipline.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4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1783080"/>
            <a:ext cx="548640" cy="548640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110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6–18 MONTHS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85232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Repackage &amp; reprice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45152" y="26974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per-unit / fixed-outcome offers with published tiers.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gain-share policy and breakeven floors by deal size.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sales on value narratives; shift comp toward margin.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93024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6243D"/>
          </a:solidFill>
          <a:ln/>
        </p:spPr>
      </p:sp>
      <p:sp>
        <p:nvSpPr>
          <p:cNvPr id="17" name="Shape 13"/>
          <p:cNvSpPr/>
          <p:nvPr/>
        </p:nvSpPr>
        <p:spPr>
          <a:xfrm>
            <a:off x="8421624" y="17830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110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07424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· 18+ MONTHS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107424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Productize &amp; recur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67344" y="26974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accelerators into a licensable platform with ARR.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subscription services on top of project work.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solution revenue % as a board-level KPI.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matters: reprice only after Wave 1 gives you defensible internal actuals for c, e and q.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code remediation — ECC → S/4HANA baseline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work: one remediated custom object. A typical mid-size ECC estate, scoped with ATC / readiness checks.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5800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objects in the ECC estate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02152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in scope (U) · 30% need remediation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hrs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318504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object (h) → 12,600 hrs total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 / $62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134856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rate (Rb) / loaded cost (Rc) per hour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PROJECT P&amp;L  ·  U × h × Rb  |  U × h × Rc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$1,197K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6868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12,600 hrs × $95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$781K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56616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delivery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12,600 hrs × $62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$416K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6364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to protect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611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96112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services benchmark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anchor per unit: price per object $332  ·  cost per object $217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of delivery — parameters measured in pilots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85% coverage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fixes, obsolete statements and simple adaptations are AI-remediable; complex logic stays manual.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614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70% effort reduction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05409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covered objects, validated against pilot actuals — not vendor claims.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85616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770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10% QA add-back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1696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of AI output, as a share of hours saved.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92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$1.50 · P = $25K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2852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Workhorse-class model, ~230K tokens per object incl. agentic retries, after caching/batch discounts — plus platform &amp; tooling.</a:t>
            </a:r>
            <a:endParaRPr lang="en-US" sz="10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09360" y="155448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309360" y="57607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hours: 12,600 × (1 − .85 × .70 × .90) = 5,853.  AI cost: $392K (−50%). Cost per object: $217 → $109. Savings pool S = $389K.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0807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is &lt;1% of cost — labor mix and review discipline decide the economics.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project, three pricing choices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50876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EEF4FC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26680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34.7%  →  29.4%  →  56.3%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26680" y="2167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pricing turns AI into a margin engine.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43800" y="269748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16243D"/>
          </a:solidFill>
          <a:ln/>
        </p:spPr>
      </p:sp>
      <p:sp>
        <p:nvSpPr>
          <p:cNvPr id="12" name="Text 9"/>
          <p:cNvSpPr/>
          <p:nvPr/>
        </p:nvSpPr>
        <p:spPr>
          <a:xfrm>
            <a:off x="772668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delivery hour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2668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  →  $95  →  $153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26680" y="3355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north-star metric for the transition.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43800" y="388620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EEF4FC"/>
          </a:solidFill>
          <a:ln/>
        </p:spPr>
      </p:sp>
      <p:sp>
        <p:nvSpPr>
          <p:cNvPr id="16" name="Text 13"/>
          <p:cNvSpPr/>
          <p:nvPr/>
        </p:nvSpPr>
        <p:spPr>
          <a:xfrm>
            <a:off x="77266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price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2668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$1,197K  →  $556K  →  $898K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26680" y="4544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still saves 25% vs. the old way.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43800" y="507492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EEF4FC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5166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object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26680" y="5440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$332  →  $154  →  $249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26680" y="5733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this — never the hours behind it.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the $389K savings pool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per-object pricing at a 25% discount, the customer saves $299K and finishes months earlier — while partner gross profit rises from $416K to $505K (+22%).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52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FORMULA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d* = 1 − (416 + 392) ÷ 1,197 = 32.5%.  </a:t>
            </a:r>
            <a:pPr indent="0" marL="0">
              <a:buNone/>
            </a:pPr>
            <a:r>
              <a:rPr lang="en-US" sz="13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25% discount sits safely inside the band; 32.5% is the hard sales floor.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243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2744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498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GUARDRAIL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08760" y="47731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32.5% discount, the AI deal earns less than the traditional project </a:t>
            </a:r>
            <a:pPr indent="0" marL="0">
              <a:buNone/>
            </a:pPr>
            <a:r>
              <a:rPr lang="en-US" sz="12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adoption would destroy value. Enforce the floor in every quote.</a:t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583680" y="155448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658368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giving customers ~3/4 of the savings, the partner earns more per project — and wins deals competitors can't price.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moves that turn the framework into an operating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Own it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304288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deal desk (sales + delivery + finance) that owns gain-share bands and floors. Rule: no AI-scoped quote without a calculator run attached.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0832" y="1463040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664208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Measure it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99432" y="2304288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next 2–3 projects with a per-unit log. After ~500 units you have defensible c, e, q by complexity class — the licence to publish tier prices.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3024" y="1463040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664208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783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Split the tool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21624" y="2304288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of one model: internal deal simulator, customer-facing value view (price &amp; savings only — never your cost stack), and a portfolio roll-up for the board.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58768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059936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788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Package it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77240" y="4700016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offer, fixed scope, published tiers, SLA — and a rework warranty: any AI-remediated unit that fails ATC or regression is fixed at no charge.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0832" y="3858768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059936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17880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Pay for it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99432" y="4700016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20–30% of sales variable comp to margin and per-unit deals. Arm reps with a one-page battlecard; deal desk sits in on the first three value-priced deals.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93024" y="3858768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94192" y="4059936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17880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Review it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21624" y="4700016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re-verify LLM prices, re-baseline c/e/q from actuals, run win/loss on value-priced vs. T&amp;M deals. If revenue-per-hour stalls, someone is quoting hours again.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deck sets policy; the calculator enforces it at deal level; the data log keeps both honest.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quote workflow — no simulation, no quote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SCOPE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76656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 scan + complexity classing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units as simple / medium / complex — the quote's factual basis.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98064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SIMULATE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pricing calculator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c, e, q per class and current token rates — never assumptions.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01184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7488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75504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price vs. band &amp; floor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75504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discount d to the published band and breakeven floor d*.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50608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6912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7424928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APPROVE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24928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outcome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24928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band: sales signs. Band → d*: deal desk exception. Beyond d*: blocked.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00032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46336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25" name="Text 23"/>
          <p:cNvSpPr/>
          <p:nvPr/>
        </p:nvSpPr>
        <p:spPr>
          <a:xfrm>
            <a:off x="9674352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LOG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74352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74352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parameters saved; delivery actuals feed the data spine for the next re-baseline.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6766560" cy="1600200"/>
          </a:xfrm>
          <a:prstGeom prst="roundRect">
            <a:avLst>
              <a:gd name="adj" fmla="val 4571"/>
            </a:avLst>
          </a:prstGeom>
          <a:solidFill>
            <a:srgbClr val="D9E6F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920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DESK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5166360"/>
            <a:ext cx="6263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delivery head · finance. </a:t>
            </a:r>
            <a:pPr indent="0" marL="0">
              <a:buNone/>
            </a:pPr>
            <a:r>
              <a:rPr lang="en-US" sz="12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bands and floors per offering, approves exceptions within 24h, reviews every blocked deal. Small enough to be fast, senior enough to be final.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43800" y="4709160"/>
            <a:ext cx="4096512" cy="1600200"/>
          </a:xfrm>
          <a:prstGeom prst="roundRect">
            <a:avLst>
              <a:gd name="adj" fmla="val 4571"/>
            </a:avLst>
          </a:prstGeom>
          <a:solidFill>
            <a:srgbClr val="16243D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212080"/>
            <a:ext cx="457200" cy="4572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366760" y="4983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that makes it real: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calculator run attached, no quote leaves the building.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· DATA SPINE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per unit — then publish tier prices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THESE FIELDS PER UNIT (WAVE 1: A SHARED SHEET IS ENOUGH)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ID · type · complexity class (simple / medium / complex)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split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99008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minutes · human minutes · senior review minutes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30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922776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AI-handled? · rework flag (failed ATC / regression)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62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consumption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855464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/ out (K) · model used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D9E6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6509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logged units </a:t>
            </a:r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statistically defensible c, e, q per class — the evidence procurement can't argue with.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1371600"/>
            <a:ext cx="5148072" cy="3977640"/>
          </a:xfrm>
          <a:prstGeom prst="roundRect">
            <a:avLst>
              <a:gd name="adj" fmla="val 1839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TIER PRICES — CASE EXAMPLE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03720" y="1965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8408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46988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object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478024"/>
            <a:ext cx="4617720" cy="493776"/>
          </a:xfrm>
          <a:prstGeom prst="roundRect">
            <a:avLst>
              <a:gd name="adj" fmla="val 11111"/>
            </a:avLst>
          </a:prstGeom>
          <a:solidFill>
            <a:srgbClr val="24385C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532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syntax, obsolete statements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0" y="2532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69880" y="25328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3044952"/>
            <a:ext cx="4617720" cy="493776"/>
          </a:xfrm>
          <a:prstGeom prst="roundRect">
            <a:avLst>
              <a:gd name="adj" fmla="val 11111"/>
            </a:avLst>
          </a:prstGeom>
          <a:solidFill>
            <a:srgbClr val="24385C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30998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adaptations, DB access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30998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469880" y="30998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3611880"/>
            <a:ext cx="4617720" cy="493776"/>
          </a:xfrm>
          <a:prstGeom prst="roundRect">
            <a:avLst>
              <a:gd name="adj" fmla="val 11111"/>
            </a:avLst>
          </a:prstGeom>
          <a:solidFill>
            <a:srgbClr val="24385C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6667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— logic rework, redesign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84080" y="3666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469880" y="36667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42336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(matches the 25%-discount case)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84080" y="4233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469880" y="42336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4800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unit prices are far easier to defend in procurement than one blended number — and they price the complex tail honestly.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5532120"/>
            <a:ext cx="514807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563270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as proof: </a:t>
            </a:r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AI-remediated object failing ATC or regression is fixed free — quality risk stays with you, priced into the tier.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leader must change for this to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platform (accelerators, prompt libraries, guardrails) as product IP. Track revenue-per-delivery-hour, not utilization. Accept short-term rate tension for durable margin.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37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653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Account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outcomes, speed and risk transfer — never hours. Re-anchor comp on margin and ARR, not booked FTE volume. Use the breakeven floor d* in every negotiation.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5137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Head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pyramid: fewer junior executors, more senior reviewers and AI-workflow engineers. Own token budgets and QA gates so AI rework never eats the margin.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23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15137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&amp; Consultants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9224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in units and complexity classes, not person-days. Log actuals (AI vs. human effort, tokens, rework) — clean data is what keeps unit prices honest.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the P&amp;L moves from selling people's time to selling productized capability.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2438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NEXT 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spread. Guard the floor.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585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305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floor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4688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discount past d*, where the AI deal's profit falls below the traditional baseline (32.5% in the case example).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2585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21305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78040" y="24688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delivery hour must rise every quarter ($95 → $153 in the case). If it stalls, price and effort have re-coupled.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04164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9136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42519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on 100% of AI output until rework &lt;2%; rework cost is charged to the platform, not hidden in projects.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63640" y="3749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04164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9136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calculator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178040" y="42519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is simulated before quote — pick the offering preset, load real units, coverage, tokens and gain-share.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calculator on your next deal, start the per-unit data log on a live project this month, and put the battlecard in front of sales — then reprice from actuals in 90 days.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2026-07-20T06:30:06Z</dcterms:created>
  <dcterms:modified xsi:type="dcterms:W3CDTF">2026-07-20T06:30:06Z</dcterms:modified>
</cp:coreProperties>
</file>